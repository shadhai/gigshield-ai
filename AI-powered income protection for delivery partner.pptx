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4"/>
  </p:sldMasterIdLst>
  <p:notesMasterIdLst>
    <p:notesMasterId r:id="rId12"/>
  </p:notesMasterIdLst>
  <p:sldIdLst>
    <p:sldId id="448" r:id="rId5"/>
    <p:sldId id="431" r:id="rId6"/>
    <p:sldId id="432" r:id="rId7"/>
    <p:sldId id="434" r:id="rId8"/>
    <p:sldId id="438" r:id="rId9"/>
    <p:sldId id="441" r:id="rId10"/>
    <p:sldId id="44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9EED7-5D78-437F-8D05-38D6FA3B84FE}" v="29" dt="2026-03-20T10:12:38.318"/>
  </p1510:revLst>
</p1510:revInfo>
</file>

<file path=ppt/tableStyles.xml><?xml version="1.0" encoding="utf-8"?>
<a:tblStyleLst xmlns:a="http://schemas.openxmlformats.org/drawingml/2006/main" def="{7E9639D4-E3E2-4D34-9284-5A2195B3D0D7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139" autoAdjust="0"/>
  </p:normalViewPr>
  <p:slideViewPr>
    <p:cSldViewPr snapToGrid="0" showGuides="1">
      <p:cViewPr>
        <p:scale>
          <a:sx n="66" d="100"/>
          <a:sy n="66" d="100"/>
        </p:scale>
        <p:origin x="446" y="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269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5FF0A-6232-4018-99D4-0CD4BDEB122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55010-18A2-4F65-8219-37A6B04B03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87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55010-18A2-4F65-8219-37A6B04B030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674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55010-18A2-4F65-8219-37A6B04B030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73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EB44-6494-403F-ADE8-ACABB96B47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725471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EB44-6494-403F-ADE8-ACABB96B47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2546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CBAA-C12C-4024-AEF3-5D15655BA02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472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EB44-6494-403F-ADE8-ACABB96B47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0897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EB44-6494-403F-ADE8-ACABB96B47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605960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AC84-4DFF-410D-A2CB-CA3FC7492ACB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99F7E-F7B6-4CA8-8FB9-17017535C2F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5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5E6A-4B20-419B-8975-EC9D5EE3F00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60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332-06A9-4FE5-B9D1-BB7784ED9F1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03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EB44-6494-403F-ADE8-ACABB96B47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7320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EB44-6494-403F-ADE8-ACABB96B47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01602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7">
            <a:extLst>
              <a:ext uri="{FF2B5EF4-FFF2-40B4-BE49-F238E27FC236}">
                <a16:creationId xmlns:a16="http://schemas.microsoft.com/office/drawing/2014/main" id="{6A933F85-AA8A-2674-D0DB-4D2018392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839706" y="5502898"/>
            <a:ext cx="456100" cy="456100"/>
          </a:xfrm>
          <a:custGeom>
            <a:avLst/>
            <a:gdLst>
              <a:gd name="connsiteX0" fmla="*/ 0 w 1004454"/>
              <a:gd name="connsiteY0" fmla="*/ 0 h 1004454"/>
              <a:gd name="connsiteX1" fmla="*/ 1004454 w 1004454"/>
              <a:gd name="connsiteY1" fmla="*/ 0 h 1004454"/>
              <a:gd name="connsiteX2" fmla="*/ 1004454 w 1004454"/>
              <a:gd name="connsiteY2" fmla="*/ 1004454 h 1004454"/>
              <a:gd name="connsiteX3" fmla="*/ 0 w 1004454"/>
              <a:gd name="connsiteY3" fmla="*/ 1004454 h 1004454"/>
              <a:gd name="connsiteX4" fmla="*/ 0 w 1004454"/>
              <a:gd name="connsiteY4" fmla="*/ 0 h 1004454"/>
              <a:gd name="connsiteX0" fmla="*/ 1004454 w 1095894"/>
              <a:gd name="connsiteY0" fmla="*/ 1004454 h 1095894"/>
              <a:gd name="connsiteX1" fmla="*/ 0 w 1095894"/>
              <a:gd name="connsiteY1" fmla="*/ 1004454 h 1095894"/>
              <a:gd name="connsiteX2" fmla="*/ 0 w 1095894"/>
              <a:gd name="connsiteY2" fmla="*/ 0 h 1095894"/>
              <a:gd name="connsiteX3" fmla="*/ 1004454 w 1095894"/>
              <a:gd name="connsiteY3" fmla="*/ 0 h 1095894"/>
              <a:gd name="connsiteX4" fmla="*/ 1095894 w 1095894"/>
              <a:gd name="connsiteY4" fmla="*/ 1095894 h 1095894"/>
              <a:gd name="connsiteX0" fmla="*/ 1004454 w 1004454"/>
              <a:gd name="connsiteY0" fmla="*/ 1004454 h 1004454"/>
              <a:gd name="connsiteX1" fmla="*/ 0 w 1004454"/>
              <a:gd name="connsiteY1" fmla="*/ 1004454 h 1004454"/>
              <a:gd name="connsiteX2" fmla="*/ 0 w 1004454"/>
              <a:gd name="connsiteY2" fmla="*/ 0 h 1004454"/>
              <a:gd name="connsiteX3" fmla="*/ 1004454 w 1004454"/>
              <a:gd name="connsiteY3" fmla="*/ 0 h 1004454"/>
              <a:gd name="connsiteX0" fmla="*/ 0 w 1004454"/>
              <a:gd name="connsiteY0" fmla="*/ 1004454 h 1004454"/>
              <a:gd name="connsiteX1" fmla="*/ 0 w 1004454"/>
              <a:gd name="connsiteY1" fmla="*/ 0 h 1004454"/>
              <a:gd name="connsiteX2" fmla="*/ 1004454 w 1004454"/>
              <a:gd name="connsiteY2" fmla="*/ 0 h 100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4454" h="1004454">
                <a:moveTo>
                  <a:pt x="0" y="1004454"/>
                </a:moveTo>
                <a:lnTo>
                  <a:pt x="0" y="0"/>
                </a:lnTo>
                <a:lnTo>
                  <a:pt x="1004454" y="0"/>
                </a:ln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8CADE68-D9D4-2727-6F42-2D408838C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89387" y="46600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37D2F690-F673-428A-A50E-F42B336C7DD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D2F0589-B32B-AB60-3FF7-F3CF49CCF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7917" y="6356350"/>
            <a:ext cx="32800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2BB831B-583A-A044-D830-ED455C5CA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84" y="6356350"/>
            <a:ext cx="5697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148593"/>
            <a:ext cx="3585961" cy="335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204176" cy="134874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7838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A1F0B-EBAF-4C39-ADF7-F306A3F3A48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7"/>
            <a:ext cx="5201602" cy="3964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298" y="1537853"/>
            <a:ext cx="3774883" cy="396504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971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4BDE3-55ED-47D3-BEC0-77B6A1C3C0E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62348" y="2823211"/>
            <a:ext cx="9477358" cy="283983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348" y="1348740"/>
            <a:ext cx="9477358" cy="134874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764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2294" y="3650974"/>
            <a:ext cx="3227176" cy="2266941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E701-76B1-45A3-BC25-DA1A879B7CF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7615" y="1355436"/>
            <a:ext cx="6002663" cy="4562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299" y="1355436"/>
            <a:ext cx="3218171" cy="185159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96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BEB44-6494-403F-ADE8-ACABB96B47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63F69-2E69-4493-9263-0ED57289E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24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6" r:id="rId12"/>
    <p:sldLayoutId id="2147483827" r:id="rId13"/>
    <p:sldLayoutId id="2147483828" r:id="rId14"/>
    <p:sldLayoutId id="214748382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1FCB7C0-6C40-4514-B14A-3100BC88F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Montserrat" panose="020F0502020204030204" pitchFamily="2" charset="0"/>
              </a:rPr>
              <a:t>AI-powered income protection for delivery partners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CEAB8B4-AE09-D25F-070A-587775CB0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935896"/>
            <a:ext cx="5718312" cy="173161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dirty="0">
                <a:latin typeface="Montserrat" panose="00000500000000000000" pitchFamily="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MEMBERS:</a:t>
            </a:r>
          </a:p>
          <a:p>
            <a:pPr algn="l"/>
            <a:endParaRPr lang="en-US" dirty="0">
              <a:latin typeface="Montserrat" panose="00000500000000000000" pitchFamily="2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l"/>
            <a:r>
              <a:rPr lang="en-US" dirty="0">
                <a:latin typeface="Montserrat" panose="00000500000000000000" pitchFamily="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P.SHADHAI JOSEPH –  2300032260</a:t>
            </a:r>
          </a:p>
          <a:p>
            <a:pPr algn="l"/>
            <a:r>
              <a:rPr lang="en-US" dirty="0">
                <a:latin typeface="Montserrat" panose="00000500000000000000" pitchFamily="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P.VIGNESH                    -  2300032549</a:t>
            </a:r>
          </a:p>
          <a:p>
            <a:pPr algn="l"/>
            <a:r>
              <a:rPr lang="en-US" dirty="0">
                <a:latin typeface="Montserrat" panose="00000500000000000000" pitchFamily="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G.V.KARTHIK                 -  2300033145</a:t>
            </a:r>
          </a:p>
          <a:p>
            <a:pPr algn="l"/>
            <a:r>
              <a:rPr lang="en-US" dirty="0">
                <a:latin typeface="Montserrat" panose="00000500000000000000" pitchFamily="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G.SARATH BABU        -  2300033633</a:t>
            </a:r>
          </a:p>
          <a:p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F1B6767-C9F0-E6FC-8C2C-AE28EA29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3DBEB44-6494-403F-ADE8-ACABB96B4709}" type="datetime1">
              <a:rPr lang="en-US" smtClean="0"/>
              <a:pPr>
                <a:spcAft>
                  <a:spcPts val="600"/>
                </a:spcAft>
              </a:pPr>
              <a:t>3/20/2026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A746F6F-CD7F-3EF8-BC6C-186906113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dirty="0" err="1"/>
              <a:t>DEVTrails</a:t>
            </a:r>
            <a:r>
              <a:rPr lang="en-IN" dirty="0"/>
              <a:t> 2026 Submission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0D0B768-C4B9-CD41-35C6-D588E893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B363F69-2E69-4493-9263-0ED57289E596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98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743F3E8-4F79-E699-9A15-05182476C3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8" r="13848"/>
          <a:stretch/>
        </p:blipFill>
        <p:spPr/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5377A-ECB9-ABC2-7182-48B5AA4A39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36591CE-6C9F-4FF4-9A36-F443B9D7F755}" type="datetime1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3CC20-8D9A-24C4-4CE1-0CAB1602F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53E96-C95C-49C6-58F6-5CB12D7F7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363F69-2E69-4493-9263-0ED57289E59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C16DD-0ED6-3900-3BFA-8607CC8233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148593"/>
            <a:ext cx="3915825" cy="390496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Montserrat" panose="00000500000000000000" pitchFamily="2" charset="0"/>
              </a:rPr>
              <a:t>Delivery partners lose 20–30% of weekly income</a:t>
            </a:r>
          </a:p>
          <a:p>
            <a:r>
              <a:rPr lang="en-US" sz="2400" dirty="0">
                <a:latin typeface="Montserrat" panose="00000500000000000000" pitchFamily="2" charset="0"/>
              </a:rPr>
              <a:t>Caused by rain, heat, pollution, outages</a:t>
            </a:r>
          </a:p>
          <a:p>
            <a:r>
              <a:rPr lang="en-US" sz="2400" dirty="0">
                <a:latin typeface="Montserrat" panose="00000500000000000000" pitchFamily="2" charset="0"/>
              </a:rPr>
              <a:t> No short-term income protection exists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BA4AC-8094-8136-B492-AAD62B25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Problem</a:t>
            </a:r>
            <a:endParaRPr lang="en-US" dirty="0"/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EB8C567B-D522-FD50-4E4C-A6C41A31B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05199" y="899337"/>
            <a:ext cx="456100" cy="456100"/>
          </a:xfrm>
          <a:custGeom>
            <a:avLst/>
            <a:gdLst>
              <a:gd name="connsiteX0" fmla="*/ 0 w 1004454"/>
              <a:gd name="connsiteY0" fmla="*/ 0 h 1004454"/>
              <a:gd name="connsiteX1" fmla="*/ 1004454 w 1004454"/>
              <a:gd name="connsiteY1" fmla="*/ 0 h 1004454"/>
              <a:gd name="connsiteX2" fmla="*/ 1004454 w 1004454"/>
              <a:gd name="connsiteY2" fmla="*/ 1004454 h 1004454"/>
              <a:gd name="connsiteX3" fmla="*/ 0 w 1004454"/>
              <a:gd name="connsiteY3" fmla="*/ 1004454 h 1004454"/>
              <a:gd name="connsiteX4" fmla="*/ 0 w 1004454"/>
              <a:gd name="connsiteY4" fmla="*/ 0 h 1004454"/>
              <a:gd name="connsiteX0" fmla="*/ 1004454 w 1095894"/>
              <a:gd name="connsiteY0" fmla="*/ 1004454 h 1095894"/>
              <a:gd name="connsiteX1" fmla="*/ 0 w 1095894"/>
              <a:gd name="connsiteY1" fmla="*/ 1004454 h 1095894"/>
              <a:gd name="connsiteX2" fmla="*/ 0 w 1095894"/>
              <a:gd name="connsiteY2" fmla="*/ 0 h 1095894"/>
              <a:gd name="connsiteX3" fmla="*/ 1004454 w 1095894"/>
              <a:gd name="connsiteY3" fmla="*/ 0 h 1095894"/>
              <a:gd name="connsiteX4" fmla="*/ 1095894 w 1095894"/>
              <a:gd name="connsiteY4" fmla="*/ 1095894 h 1095894"/>
              <a:gd name="connsiteX0" fmla="*/ 1004454 w 1004454"/>
              <a:gd name="connsiteY0" fmla="*/ 1004454 h 1004454"/>
              <a:gd name="connsiteX1" fmla="*/ 0 w 1004454"/>
              <a:gd name="connsiteY1" fmla="*/ 1004454 h 1004454"/>
              <a:gd name="connsiteX2" fmla="*/ 0 w 1004454"/>
              <a:gd name="connsiteY2" fmla="*/ 0 h 1004454"/>
              <a:gd name="connsiteX3" fmla="*/ 1004454 w 1004454"/>
              <a:gd name="connsiteY3" fmla="*/ 0 h 1004454"/>
              <a:gd name="connsiteX0" fmla="*/ 0 w 1004454"/>
              <a:gd name="connsiteY0" fmla="*/ 1004454 h 1004454"/>
              <a:gd name="connsiteX1" fmla="*/ 0 w 1004454"/>
              <a:gd name="connsiteY1" fmla="*/ 0 h 1004454"/>
              <a:gd name="connsiteX2" fmla="*/ 1004454 w 1004454"/>
              <a:gd name="connsiteY2" fmla="*/ 0 h 100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4454" h="1004454">
                <a:moveTo>
                  <a:pt x="0" y="1004454"/>
                </a:moveTo>
                <a:lnTo>
                  <a:pt x="0" y="0"/>
                </a:lnTo>
                <a:lnTo>
                  <a:pt x="1004454" y="0"/>
                </a:lnTo>
              </a:path>
            </a:pathLst>
          </a:cu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80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8623A0-660E-F27D-1FD2-03EE59A8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Our Solution: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62AB971-711C-1F0C-E114-185C4A44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latin typeface="Montserrat" panose="00000500000000000000" pitchFamily="2" charset="0"/>
              </a:rPr>
              <a:t>GigShield</a:t>
            </a:r>
            <a:r>
              <a:rPr lang="en-IN" dirty="0">
                <a:latin typeface="Montserrat" panose="00000500000000000000" pitchFamily="2" charset="0"/>
              </a:rPr>
              <a:t> AI provides: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latin typeface="Montserrat" panose="00000500000000000000" pitchFamily="2" charset="0"/>
              </a:rPr>
              <a:t>Weekly micro-insurance model</a:t>
            </a:r>
          </a:p>
          <a:p>
            <a:pPr marL="0" indent="0">
              <a:buNone/>
            </a:pPr>
            <a:r>
              <a:rPr lang="en-IN" dirty="0">
                <a:latin typeface="Montserrat" panose="00000500000000000000" pitchFamily="2" charset="0"/>
              </a:rPr>
              <a:t>AI based risk scoring &amp; premium calculation</a:t>
            </a:r>
          </a:p>
          <a:p>
            <a:pPr marL="0" indent="0">
              <a:buNone/>
            </a:pPr>
            <a:r>
              <a:rPr lang="en-IN" dirty="0">
                <a:latin typeface="Montserrat" panose="00000500000000000000" pitchFamily="2" charset="0"/>
              </a:rPr>
              <a:t>Automatic parametric triggers</a:t>
            </a:r>
          </a:p>
          <a:p>
            <a:pPr marL="0" indent="0">
              <a:buNone/>
            </a:pPr>
            <a:r>
              <a:rPr lang="en-IN" dirty="0">
                <a:latin typeface="Montserrat" panose="00000500000000000000" pitchFamily="2" charset="0"/>
              </a:rPr>
              <a:t>Zero touch claim processing</a:t>
            </a:r>
          </a:p>
          <a:p>
            <a:pPr marL="0" indent="0">
              <a:buNone/>
            </a:pPr>
            <a:r>
              <a:rPr lang="en-IN" dirty="0">
                <a:latin typeface="Montserrat" panose="00000500000000000000" pitchFamily="2" charset="0"/>
              </a:rPr>
              <a:t>Instant payout simulation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03AE4-8DF2-F3EF-071A-CE46B657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D8B9-34E9-4297-925E-32B16F634DDD}" type="datetime1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B861A-5931-88C2-466E-50791DD9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IN" dirty="0" err="1"/>
              <a:t>DEVTrails</a:t>
            </a:r>
            <a:r>
              <a:rPr lang="en-IN" dirty="0"/>
              <a:t> 2026 Submission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B3758-7F16-D373-F40B-234E7038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63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AC8098-60DD-EF9E-065B-09FFBEE9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685" y="3641651"/>
            <a:ext cx="4055418" cy="2146374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Workers Flow</a:t>
            </a:r>
            <a:b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</a:b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C7E6B1-7AD7-7F0B-A68C-B2E563E38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96469"/>
            <a:ext cx="5046196" cy="532335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1. User activates weekly policy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2. System monitors weather conditions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3. Disruption is detected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4. Claim is verified automatically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5. Payout is processed instantly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80190-178B-D49A-BDAF-B5F4DDCD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265C26CE-C713-4954-8E00-2596C1DCE1BA}" type="datetime1">
              <a:rPr lang="en-US" sz="1000"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3/20/2026</a:t>
            </a:fld>
            <a:endParaRPr lang="en-US" sz="1000">
              <a:latin typeface="Calibri" panose="020F0502020204030204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E2D65-423D-6986-60B4-BF76827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000" dirty="0" err="1"/>
              <a:t>DEVTrails</a:t>
            </a:r>
            <a:r>
              <a:rPr lang="en-IN" sz="1000" dirty="0"/>
              <a:t> 2026 Submission</a:t>
            </a:r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8AE0B-F575-0FAE-0FF6-FC6F4614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0B363F69-2E69-4493-9263-0ED57289E596}" type="slidenum">
              <a:rPr lang="en-US" sz="1000"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4</a:t>
            </a:fld>
            <a:endParaRPr lang="en-US" sz="100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691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7004C-5991-EAE7-FD11-B5D54A10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00" b="1" dirty="0">
                <a:latin typeface="Montserrat" panose="00000500000000000000" pitchFamily="2" charset="0"/>
              </a:rPr>
              <a:t>GPS-based systems are easily spoofed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7CA05-EB25-1DC2-1F96-CB69236457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37034" y="2194102"/>
            <a:ext cx="315874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marL="0">
              <a:lnSpc>
                <a:spcPct val="100000"/>
              </a:lnSpc>
            </a:pPr>
            <a:r>
              <a:rPr lang="en-US" sz="2000" dirty="0">
                <a:latin typeface="Montserrat" panose="00000500000000000000" pitchFamily="2" charset="0"/>
              </a:rPr>
              <a:t>Our Solution: Multi-Signal Claim Trust Engine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Montserrat" panose="00000500000000000000" pitchFamily="2" charset="0"/>
              </a:rPr>
              <a:t>We verify using,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Montserrat" panose="00000500000000000000" pitchFamily="2" charset="0"/>
              </a:rPr>
              <a:t>Movement patterns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Montserrat" panose="00000500000000000000" pitchFamily="2" charset="0"/>
              </a:rPr>
              <a:t>Delivery activity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Montserrat" panose="00000500000000000000" pitchFamily="2" charset="0"/>
              </a:rPr>
              <a:t>Device integrity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Montserrat" panose="00000500000000000000" pitchFamily="2" charset="0"/>
              </a:rPr>
              <a:t>Network/IP signals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Montserrat" panose="00000500000000000000" pitchFamily="2" charset="0"/>
              </a:rPr>
              <a:t>Environmental consistency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A3DF2-E03B-1027-4BD8-7049A873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14A57D2-DD83-4392-B758-C6439A5F9772}" type="datetime1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3/20/2026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pic>
        <p:nvPicPr>
          <p:cNvPr id="10" name="Picture Placeholder 9" descr="Locator flag on a city map">
            <a:extLst>
              <a:ext uri="{FF2B5EF4-FFF2-40B4-BE49-F238E27FC236}">
                <a16:creationId xmlns:a16="http://schemas.microsoft.com/office/drawing/2014/main" id="{E8437374-8E10-A53D-A8C9-07909927E9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94" b="-2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70F64-8300-6588-8D9B-DCEE12D6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 sz="10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CD0D3-5534-F6FC-2776-66488BF3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0B363F69-2E69-4493-9263-0ED57289E596}" type="slidenum">
              <a:rPr lang="en-US" sz="1000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5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5478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22469-70A3-ECF4-9C73-BBD792F1F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160" y="609600"/>
            <a:ext cx="4010382" cy="133083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Montserrat" panose="00000500000000000000" pitchFamily="2" charset="0"/>
              </a:rPr>
              <a:t>SYSTEM ARCHITECTUE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02672-AC02-43C7-F349-38E997BCA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System Layers: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Frontend: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Worker mobile app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Admin &amp; Provider dashboards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Backend: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Policy service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Trigger engine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Fraud detection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Payout engine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AI Models: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Risk Prediction (</a:t>
            </a:r>
            <a:r>
              <a:rPr lang="en-US" sz="1000" dirty="0" err="1"/>
              <a:t>XGBoost</a:t>
            </a:r>
            <a:r>
              <a:rPr lang="en-US" sz="1000" dirty="0"/>
              <a:t>)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Fraud Detection (Isolation Forest)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Income Loss Estimation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Integrations: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Weather API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Platform API (mock)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Payment gateway (</a:t>
            </a:r>
            <a:r>
              <a:rPr lang="en-US" sz="1000" dirty="0" err="1"/>
              <a:t>Razorpay</a:t>
            </a:r>
            <a:r>
              <a:rPr lang="en-US" sz="1000" dirty="0"/>
              <a:t>)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2FAA37-BDA0-4C5F-1831-CE61D70EE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263" y="1006997"/>
            <a:ext cx="7000406" cy="50956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C3185-D1D2-FA24-90D3-9E17B328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0FD8F3A8-18AE-4F5F-8FCA-74388120FCB6}" type="datetime1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  <a:defRPr/>
              </a:pPr>
              <a:t>3/20/2026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DB8F1-9F8C-AF0B-A827-5FF1DFA0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000" dirty="0" err="1"/>
              <a:t>DEVTrails</a:t>
            </a:r>
            <a:r>
              <a:rPr lang="en-IN" sz="1000" dirty="0"/>
              <a:t> 2026 Submission</a:t>
            </a:r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8DBAB-B339-1DED-E864-05BBB97E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CC057153-B650-4DEB-B370-79DDCFDCE934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  <a:defRPr/>
              </a:pPr>
              <a:t>6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90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ACCA-2795-0B4B-8F3B-67ADC4DA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6525"/>
            <a:ext cx="10515600" cy="1414483"/>
          </a:xfrm>
        </p:spPr>
        <p:txBody>
          <a:bodyPr>
            <a:noAutofit/>
          </a:bodyPr>
          <a:lstStyle/>
          <a:p>
            <a:r>
              <a:rPr lang="en-US" sz="3000" b="1" dirty="0" err="1">
                <a:latin typeface="Montserrat" panose="00000500000000000000" pitchFamily="2" charset="0"/>
              </a:rPr>
              <a:t>GigShield</a:t>
            </a:r>
            <a:r>
              <a:rPr lang="en-US" sz="3000" b="1" dirty="0">
                <a:latin typeface="Montserrat" panose="00000500000000000000" pitchFamily="2" charset="0"/>
              </a:rPr>
              <a:t> AI</a:t>
            </a:r>
            <a:br>
              <a:rPr lang="en-US" sz="3000" b="1" dirty="0">
                <a:latin typeface="Montserrat" panose="00000500000000000000" pitchFamily="2" charset="0"/>
              </a:rPr>
            </a:br>
            <a:r>
              <a:rPr lang="en-US" sz="3000" b="1" dirty="0">
                <a:latin typeface="Montserrat" panose="00000500000000000000" pitchFamily="2" charset="0"/>
              </a:rPr>
              <a:t>Securing Income. Preventing Fraud. Empowering Gig Workers.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9C093-9D47-C372-2685-33C24630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80" y="1912730"/>
            <a:ext cx="10515600" cy="3346451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Faster payouts for workers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Reduced fraud losses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Increased trust in gig platforms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Scalable insurance model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Business Model: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5–10% platform commission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B2B partnerships with delivery platforms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A5365-38F4-35CD-D4C2-0A6712CC5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BED5-A4B1-40C4-9E9D-B3D14BF27EC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DD6D8-989F-4D4D-362B-BCAAD8DD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IN" dirty="0" err="1"/>
              <a:t>DEVTrails</a:t>
            </a:r>
            <a:r>
              <a:rPr lang="en-IN" dirty="0"/>
              <a:t> 2026 Submission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A30C-E5B7-A73D-2CC0-902B6ACE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0E4BD-75C6-2CEB-3E12-1CEC2A4BFA68}"/>
              </a:ext>
            </a:extLst>
          </p:cNvPr>
          <p:cNvSpPr txBox="1"/>
          <p:nvPr/>
        </p:nvSpPr>
        <p:spPr>
          <a:xfrm>
            <a:off x="4595149" y="5648446"/>
            <a:ext cx="3558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IN" b="1" dirty="0">
                <a:latin typeface="Montserrat" panose="000005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04114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2B778B-7F75-4892-9988-BCB6CDFB2E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C32E69-9C7A-4C09-AE9E-B0BD806843B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D9F60A8-9C04-4B80-AD51-B9AC690A6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283</Words>
  <Application>Microsoft Office PowerPoint</Application>
  <PresentationFormat>Widescreen</PresentationFormat>
  <Paragraphs>79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Montserrat</vt:lpstr>
      <vt:lpstr>Office Theme</vt:lpstr>
      <vt:lpstr>AI-powered income protection for delivery partners</vt:lpstr>
      <vt:lpstr>The Problem</vt:lpstr>
      <vt:lpstr>Our Solution:</vt:lpstr>
      <vt:lpstr>Workers Flow </vt:lpstr>
      <vt:lpstr>GPS-based systems are easily spoofed</vt:lpstr>
      <vt:lpstr>SYSTEM ARCHITECTUE</vt:lpstr>
      <vt:lpstr>GigShield AI Securing Income. Preventing Fraud. Empowering Gig Workers.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shadhai joseph</dc:creator>
  <cp:lastModifiedBy>shadhai joseph</cp:lastModifiedBy>
  <cp:revision>2</cp:revision>
  <dcterms:created xsi:type="dcterms:W3CDTF">2026-03-19T15:55:45Z</dcterms:created>
  <dcterms:modified xsi:type="dcterms:W3CDTF">2026-03-20T10:13:53Z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